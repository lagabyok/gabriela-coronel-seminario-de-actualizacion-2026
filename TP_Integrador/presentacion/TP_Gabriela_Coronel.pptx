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301942" cy="10295001"/>
            <a:chOff x="0" y="0"/>
            <a:chExt cx="402590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59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D0C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47789" y="0"/>
            <a:ext cx="9527932" cy="4058609"/>
            <a:chOff x="0" y="0"/>
            <a:chExt cx="17582113" cy="74894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82152" cy="7489444"/>
            </a:xfrm>
            <a:custGeom>
              <a:avLst/>
              <a:gdLst/>
              <a:ahLst/>
              <a:cxnLst/>
              <a:rect r="r" b="b" t="t" l="l"/>
              <a:pathLst>
                <a:path h="7489444" w="17582152">
                  <a:moveTo>
                    <a:pt x="0" y="0"/>
                  </a:moveTo>
                  <a:lnTo>
                    <a:pt x="17582152" y="0"/>
                  </a:lnTo>
                  <a:lnTo>
                    <a:pt x="17582152" y="7489444"/>
                  </a:lnTo>
                  <a:lnTo>
                    <a:pt x="0" y="7489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216" r="0" b="-2821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6842" y="1761563"/>
            <a:ext cx="15602855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TP INTEGRADOR  |  IFTS N.º 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842" y="2791063"/>
            <a:ext cx="15602855" cy="155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4"/>
              </a:lnSpc>
            </a:pPr>
            <a:r>
              <a:rPr lang="en-US" sz="630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BugTriage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842" y="4506906"/>
            <a:ext cx="1423017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Clasificación asistida de reportes de errores con IA preentrenada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6842" y="7233199"/>
            <a:ext cx="13543845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Gabriela Coronel  •  Seminario de Actualización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842" y="8624926"/>
            <a:ext cx="14916512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2D0C4"/>
                </a:solidFill>
                <a:latin typeface="Aptos"/>
                <a:ea typeface="Aptos"/>
                <a:cs typeface="Aptos"/>
                <a:sym typeface="Aptos"/>
              </a:rPr>
              <a:t>Demo pública: huggingface.co/spaces/lagabyok/bugtriage-ai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01 · 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El triage de bugs consume tiempo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69446"/>
            <a:ext cx="162891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Los reportes llegan con distintos niveles de detalle y claridad.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5002" y="4551074"/>
            <a:ext cx="16578005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sz="37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Leer y categorizar cada reporte de forma manual puede demorar la derivación.</a:t>
            </a:r>
          </a:p>
          <a:p>
            <a:pPr algn="l">
              <a:lnSpc>
                <a:spcPts val="4501"/>
              </a:lnSpc>
            </a:pPr>
            <a:r>
              <a:rPr lang="en-US" sz="37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redacción puede ser informal, ambigua o mezclar más de un problema.</a:t>
            </a:r>
          </a:p>
          <a:p>
            <a:pPr algn="l">
              <a:lnSpc>
                <a:spcPts val="4501"/>
              </a:lnSpc>
            </a:pPr>
            <a:r>
              <a:rPr lang="en-US" sz="37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Objetivo: proponer una categoría inicial, sin reemplazar el criterio humano.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9764239"/>
            <a:ext cx="3943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99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72991" y="2601211"/>
            <a:ext cx="7974092" cy="5316064"/>
            <a:chOff x="0" y="0"/>
            <a:chExt cx="10632122" cy="70880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32186" cy="7088124"/>
            </a:xfrm>
            <a:custGeom>
              <a:avLst/>
              <a:gdLst/>
              <a:ahLst/>
              <a:cxnLst/>
              <a:rect r="r" b="b" t="t" l="l"/>
              <a:pathLst>
                <a:path h="7088124" w="10632186">
                  <a:moveTo>
                    <a:pt x="0" y="0"/>
                  </a:moveTo>
                  <a:lnTo>
                    <a:pt x="10632186" y="0"/>
                  </a:lnTo>
                  <a:lnTo>
                    <a:pt x="10632186" y="7088124"/>
                  </a:lnTo>
                  <a:lnTo>
                    <a:pt x="0" y="7088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t="0" r="-2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02 · 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¿Qué hace BugTriage AI?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1979066"/>
            <a:ext cx="16289188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Una aplicación web sencilla para apoyar la primera clasificación.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7917275"/>
            <a:ext cx="1546559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Entrada: descripción textual de un error.</a:t>
            </a:r>
          </a:p>
          <a:p>
            <a:pPr algn="l">
              <a:lnSpc>
                <a:spcPts val="3061"/>
              </a:lnSpc>
            </a:pPr>
            <a:r>
              <a:rPr lang="en-US" sz="25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Salida: Funcional, UI/UX, Autenticación, Datos o Accesibilidad.</a:t>
            </a:r>
          </a:p>
          <a:p>
            <a:pPr algn="l">
              <a:lnSpc>
                <a:spcPts val="3061"/>
              </a:lnSpc>
            </a:pPr>
            <a:r>
              <a:rPr lang="en-US" sz="25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Muestra score y categorías alternativas para facilitar la revisión.</a:t>
            </a:r>
          </a:p>
          <a:p>
            <a:pPr algn="l">
              <a:lnSpc>
                <a:spcPts val="3061"/>
              </a:lnSpc>
            </a:pPr>
            <a:r>
              <a:rPr lang="en-US" sz="255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No reproduce el bug, no determina la severidad real ni crea tickets automáticamente.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312" y="9764239"/>
            <a:ext cx="1628918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5942" y="5228739"/>
            <a:ext cx="7853953" cy="4029561"/>
            <a:chOff x="0" y="0"/>
            <a:chExt cx="10471937" cy="5372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1912" cy="5372735"/>
            </a:xfrm>
            <a:custGeom>
              <a:avLst/>
              <a:gdLst/>
              <a:ahLst/>
              <a:cxnLst/>
              <a:rect r="r" b="b" t="t" l="l"/>
              <a:pathLst>
                <a:path h="5372735" w="10471912">
                  <a:moveTo>
                    <a:pt x="0" y="0"/>
                  </a:moveTo>
                  <a:lnTo>
                    <a:pt x="10471912" y="0"/>
                  </a:lnTo>
                  <a:lnTo>
                    <a:pt x="10471912" y="5372735"/>
                  </a:lnTo>
                  <a:lnTo>
                    <a:pt x="0" y="537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393" r="0" b="-439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792073"/>
            <a:ext cx="15011752" cy="204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Gradio construye la interfaz web.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Transformers pipeline ejecuta zero-shot classification.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facebook/bart-large-mnli compara el reporte con etiquetas candidatas.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Hugging Face Spaces aloja la aplicación publicada.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persona usuaria revisa la salida antes de actuar.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03 · ARQUITECTURA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De un texto a una sugerencia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312" y="2269446"/>
            <a:ext cx="16289188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La app usa inferencia; no entrena un modelo propio.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312" y="9764239"/>
            <a:ext cx="3943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99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04 · EVALUACIÓN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Comparé dos modelos con los mismos 12 casos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69446"/>
            <a:ext cx="16289188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Resultados exploratorios registrados en el notebook.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9560" y="4229033"/>
            <a:ext cx="16283540" cy="182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BART-large-MNLI: 6/12 correctos · 50,00 % · 0,90 s/caso.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mDeBERTa multilingüe NLI: 2/12 correctos · 16,67 % · 4,15 s/caso.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Para este conjunto elegí BART por mejor accuracy observada y menor tiempo.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muestra es pequeña: no permite afirmar superioridad general ni desempeño de producción.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9764239"/>
            <a:ext cx="1628918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05 · LÍMITES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El score no es una garantía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69446"/>
            <a:ext cx="16289188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Una predicción debe interpretarse como apoyo, no como verdad.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842" y="3252454"/>
            <a:ext cx="16054511" cy="211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751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Un ejemplo de prueba mostró que la categoría de mayor score podía no coincidir con la intuición humana.</a:t>
            </a:r>
          </a:p>
          <a:p>
            <a:pPr algn="l">
              <a:lnSpc>
                <a:spcPts val="3301"/>
              </a:lnSpc>
            </a:pPr>
            <a:r>
              <a:rPr lang="en-US" sz="2751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Los scores no son probabilidades calibradas de acierto.</a:t>
            </a:r>
          </a:p>
          <a:p>
            <a:pPr algn="l">
              <a:lnSpc>
                <a:spcPts val="3301"/>
              </a:lnSpc>
            </a:pPr>
            <a:r>
              <a:rPr lang="en-US" sz="2751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Próximos pasos: más casos, etiquetas revisadas, matriz de confusión, precision y recall por categoría.</a:t>
            </a:r>
          </a:p>
          <a:p>
            <a:pPr algn="l">
              <a:lnSpc>
                <a:spcPts val="3301"/>
              </a:lnSpc>
            </a:pPr>
            <a:r>
              <a:rPr lang="en-US" sz="2751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Los reportes ambiguos o multitema requieren revisión humana.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9764239"/>
            <a:ext cx="1628918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06 · PROBLEMAS REALES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Los errores también fueron parte del aprendizaje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69446"/>
            <a:ext cx="16289188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Separé errores de código de problemas de servicio y configuración.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842" y="3271504"/>
            <a:ext cx="15465590" cy="56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HF_TOKEN ausente y respuesta 401: revisar credenciales y permisos.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Error 402: no había créditos remotos disponibles.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tarea text_classification no coincidía; se corrigió a zero_shot_classification.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ruta que quedó en la app usa el pipeline; el cliente remoto fue un experimento.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9764239"/>
            <a:ext cx="1628918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1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63426"/>
            <a:ext cx="1628918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2D0C4"/>
                </a:solidFill>
                <a:latin typeface="Aptos Bold"/>
                <a:ea typeface="Aptos Bold"/>
                <a:cs typeface="Aptos Bold"/>
                <a:sym typeface="Aptos Bold"/>
              </a:rPr>
              <a:t>07 · CIERRE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281122"/>
            <a:ext cx="1628918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DFDFD"/>
                </a:solidFill>
                <a:latin typeface="Aptos Bold"/>
                <a:ea typeface="Aptos Bold"/>
                <a:cs typeface="Aptos Bold"/>
                <a:sym typeface="Aptos Bold"/>
              </a:rPr>
              <a:t>Un prototipo funcional, con límites explícitos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69446"/>
            <a:ext cx="16289188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1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Publicado y preparado para seguir mejorando.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842" y="3271504"/>
            <a:ext cx="15465590" cy="56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Demo pública en Hugging Face Spaces.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IA generativa se utilizó como apoyo documental y técnico; el código y resultados se revisaron.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La solución demuestra inferencia con un modelo preentrenado y despliegue de una interfaz.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DEDCD8"/>
                </a:solidFill>
                <a:latin typeface="Aptos"/>
                <a:ea typeface="Aptos"/>
                <a:cs typeface="Aptos"/>
                <a:sym typeface="Aptos"/>
              </a:rPr>
              <a:t>•  Conclusión: puede acelerar una primera lectura, pero necesita evaluación ampliada y supervisión humana.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9764239"/>
            <a:ext cx="1628918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B7B4B7"/>
                </a:solidFill>
                <a:latin typeface="Aptos"/>
                <a:ea typeface="Aptos"/>
                <a:cs typeface="Aptos"/>
                <a:sym typeface="Aptos"/>
              </a:rPr>
              <a:t>BUGTRIAGE AI  •  SEMINARIO DE ACTUALIZACIÓN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DAHXfqBiVok</dc:identifier>
  <dcterms:modified xsi:type="dcterms:W3CDTF">2011-08-01T06:04:30Z</dcterms:modified>
  <cp:revision>1</cp:revision>
  <dc:title>TP Gabriela Coronel</dc:title>
</cp:coreProperties>
</file>