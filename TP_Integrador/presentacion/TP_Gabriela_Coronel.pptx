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Aptos Bold" charset="1" panose="020B0004020202020204"/>
      <p:regular r:id="rId14"/>
    </p:embeddedFont>
    <p:embeddedFont>
      <p:font typeface="Aptos" charset="1" panose="020B0004020202020204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github.com/lagabyok/Gabriela-Coronel-seminario-de-actualizacion-2026/tree/main/TP_Integrador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11" cy="10295001"/>
            <a:chOff x="0" y="0"/>
            <a:chExt cx="24402415" cy="137266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19181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301942" cy="10295001"/>
            <a:chOff x="0" y="0"/>
            <a:chExt cx="402590" cy="1372666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02590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402590">
                  <a:moveTo>
                    <a:pt x="0" y="0"/>
                  </a:moveTo>
                  <a:lnTo>
                    <a:pt x="402590" y="0"/>
                  </a:lnTo>
                  <a:lnTo>
                    <a:pt x="402590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2D0C4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4147787" y="0"/>
            <a:ext cx="9527953" cy="4058612"/>
            <a:chOff x="0" y="0"/>
            <a:chExt cx="12703937" cy="541148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703937" cy="5411470"/>
            </a:xfrm>
            <a:custGeom>
              <a:avLst/>
              <a:gdLst/>
              <a:ahLst/>
              <a:cxnLst/>
              <a:rect r="r" b="b" t="t" l="l"/>
              <a:pathLst>
                <a:path h="5411470" w="12703937">
                  <a:moveTo>
                    <a:pt x="0" y="0"/>
                  </a:moveTo>
                  <a:lnTo>
                    <a:pt x="12703937" y="0"/>
                  </a:lnTo>
                  <a:lnTo>
                    <a:pt x="12703937" y="5411470"/>
                  </a:lnTo>
                  <a:lnTo>
                    <a:pt x="0" y="54114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8216" r="0" b="-28216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326842" y="1761563"/>
            <a:ext cx="15602855" cy="45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0"/>
              </a:lnSpc>
            </a:pPr>
            <a:r>
              <a:rPr lang="en-US" sz="1950" b="true">
                <a:solidFill>
                  <a:srgbClr val="F2D0C4"/>
                </a:solidFill>
                <a:latin typeface="Aptos Bold"/>
                <a:ea typeface="Aptos Bold"/>
                <a:cs typeface="Aptos Bold"/>
                <a:sym typeface="Aptos Bold"/>
              </a:rPr>
              <a:t>TP INTEGRADOR  |  IFTS N.º 18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26842" y="2791063"/>
            <a:ext cx="15602855" cy="1555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63"/>
              </a:lnSpc>
            </a:pPr>
            <a:r>
              <a:rPr lang="en-US" sz="6303" b="true">
                <a:solidFill>
                  <a:srgbClr val="FDFDFD"/>
                </a:solidFill>
                <a:latin typeface="Aptos Bold"/>
                <a:ea typeface="Aptos Bold"/>
                <a:cs typeface="Aptos Bold"/>
                <a:sym typeface="Aptos Bold"/>
              </a:rPr>
              <a:t>BugTriage AI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26842" y="4506906"/>
            <a:ext cx="14230179" cy="1281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1"/>
              </a:lnSpc>
            </a:pPr>
            <a:r>
              <a:rPr lang="en-US" sz="345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Clasificación asistida de reportes de errores con IA preentrenada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26842" y="7223674"/>
            <a:ext cx="13543845" cy="554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B7B4B7"/>
                </a:solidFill>
                <a:latin typeface="Aptos"/>
                <a:ea typeface="Aptos"/>
                <a:cs typeface="Aptos"/>
                <a:sym typeface="Aptos"/>
              </a:rPr>
              <a:t>Gabriela Coronel  •  Seminario de Actualización 2026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26842" y="8624926"/>
            <a:ext cx="14916512" cy="45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2D0C4"/>
                </a:solidFill>
                <a:latin typeface="Aptos"/>
                <a:ea typeface="Aptos"/>
                <a:cs typeface="Aptos"/>
                <a:sym typeface="Aptos"/>
              </a:rPr>
              <a:t>Demo pública: huggingface.co/spaces/lagabyok/bugtriage-ai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11" cy="10295001"/>
            <a:chOff x="0" y="0"/>
            <a:chExt cx="24402415" cy="137266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19181E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52312" y="663426"/>
            <a:ext cx="16289188" cy="388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F2D0C4"/>
                </a:solidFill>
                <a:latin typeface="Aptos Bold"/>
                <a:ea typeface="Aptos Bold"/>
                <a:cs typeface="Aptos Bold"/>
                <a:sym typeface="Aptos Bold"/>
              </a:rPr>
              <a:t>01 · PROBLEMA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52312" y="1281122"/>
            <a:ext cx="16289188" cy="869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22"/>
              </a:lnSpc>
            </a:pPr>
            <a:r>
              <a:rPr lang="en-US" sz="4353" b="true">
                <a:solidFill>
                  <a:srgbClr val="FDFDFD"/>
                </a:solidFill>
                <a:latin typeface="Aptos Bold"/>
                <a:ea typeface="Aptos Bold"/>
                <a:cs typeface="Aptos Bold"/>
                <a:sym typeface="Aptos Bold"/>
              </a:rPr>
              <a:t>El triage de bugs consume tiempo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52312" y="2269446"/>
            <a:ext cx="16289188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1"/>
              </a:lnSpc>
            </a:pPr>
            <a:r>
              <a:rPr lang="en-US" sz="2501">
                <a:solidFill>
                  <a:srgbClr val="B7B4B7"/>
                </a:solidFill>
                <a:latin typeface="Aptos"/>
                <a:ea typeface="Aptos"/>
                <a:cs typeface="Aptos"/>
                <a:sym typeface="Aptos"/>
              </a:rPr>
              <a:t>Los reportes llegan con distintos niveles de detalle y claridad.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5002" y="4551074"/>
            <a:ext cx="16578005" cy="1714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1"/>
              </a:lnSpc>
            </a:pPr>
            <a:r>
              <a:rPr lang="en-US" sz="375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Leer y categorizar cada reporte de forma manual puede demorar la derivación.</a:t>
            </a:r>
          </a:p>
          <a:p>
            <a:pPr algn="l">
              <a:lnSpc>
                <a:spcPts val="4501"/>
              </a:lnSpc>
            </a:pPr>
            <a:r>
              <a:rPr lang="en-US" sz="375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La redacción puede ser informal, ambigua o mezclar más de un problema.</a:t>
            </a:r>
          </a:p>
          <a:p>
            <a:pPr algn="l">
              <a:lnSpc>
                <a:spcPts val="4501"/>
              </a:lnSpc>
            </a:pPr>
            <a:r>
              <a:rPr lang="en-US" sz="375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Objetivo: proponer una categoría inicial, sin reemplazar el criterio humano.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52312" y="9764239"/>
            <a:ext cx="3943617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B7B4B7"/>
                </a:solidFill>
                <a:latin typeface="Aptos"/>
                <a:ea typeface="Aptos"/>
                <a:cs typeface="Aptos"/>
                <a:sym typeface="Aptos"/>
              </a:rPr>
              <a:t>BUGTRIAGE AI  •  SEMINARIO DE ACTUALIZACIÓN 2026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11" cy="10295001"/>
            <a:chOff x="0" y="0"/>
            <a:chExt cx="24402415" cy="137266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19181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872991" y="2601211"/>
            <a:ext cx="7974140" cy="5316093"/>
            <a:chOff x="0" y="0"/>
            <a:chExt cx="10632186" cy="708812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632186" cy="7088124"/>
            </a:xfrm>
            <a:custGeom>
              <a:avLst/>
              <a:gdLst/>
              <a:ahLst/>
              <a:cxnLst/>
              <a:rect r="r" b="b" t="t" l="l"/>
              <a:pathLst>
                <a:path h="7088124" w="10632186">
                  <a:moveTo>
                    <a:pt x="0" y="0"/>
                  </a:moveTo>
                  <a:lnTo>
                    <a:pt x="10632186" y="0"/>
                  </a:lnTo>
                  <a:lnTo>
                    <a:pt x="10632186" y="7088124"/>
                  </a:lnTo>
                  <a:lnTo>
                    <a:pt x="0" y="70881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23" t="0" r="-23" b="0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52312" y="663426"/>
            <a:ext cx="16289188" cy="388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F2D0C4"/>
                </a:solidFill>
                <a:latin typeface="Aptos Bold"/>
                <a:ea typeface="Aptos Bold"/>
                <a:cs typeface="Aptos Bold"/>
                <a:sym typeface="Aptos Bold"/>
              </a:rPr>
              <a:t>02 · SOLUCIÓN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52312" y="1281122"/>
            <a:ext cx="16289188" cy="869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22"/>
              </a:lnSpc>
            </a:pPr>
            <a:r>
              <a:rPr lang="en-US" sz="4353" b="true">
                <a:solidFill>
                  <a:srgbClr val="FDFDFD"/>
                </a:solidFill>
                <a:latin typeface="Aptos Bold"/>
                <a:ea typeface="Aptos Bold"/>
                <a:cs typeface="Aptos Bold"/>
                <a:sym typeface="Aptos Bold"/>
              </a:rPr>
              <a:t>¿Qué hace BugTriage AI?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52312" y="1979066"/>
            <a:ext cx="16289188" cy="342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1">
                <a:solidFill>
                  <a:srgbClr val="B7B4B7"/>
                </a:solidFill>
                <a:latin typeface="Aptos"/>
                <a:ea typeface="Aptos"/>
                <a:cs typeface="Aptos"/>
                <a:sym typeface="Aptos"/>
              </a:rPr>
              <a:t>Una aplicación web sencilla para apoyar la primera clasificación.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64116" y="7917275"/>
            <a:ext cx="15465590" cy="1524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Entrada: descripción textual de un error.</a:t>
            </a:r>
          </a:p>
          <a:p>
            <a:pPr algn="l">
              <a:lnSpc>
                <a:spcPts val="3060"/>
              </a:lnSpc>
            </a:pPr>
            <a:r>
              <a:rPr lang="en-US" sz="255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Salida: Funcional, UI/UX, Autenticación, Datos o Accesibilidad.</a:t>
            </a:r>
          </a:p>
          <a:p>
            <a:pPr algn="l">
              <a:lnSpc>
                <a:spcPts val="3060"/>
              </a:lnSpc>
            </a:pPr>
            <a:r>
              <a:rPr lang="en-US" sz="255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Muestra score y categorías alternativas para facilitar la revisión.</a:t>
            </a:r>
          </a:p>
          <a:p>
            <a:pPr algn="l">
              <a:lnSpc>
                <a:spcPts val="3060"/>
              </a:lnSpc>
            </a:pPr>
            <a:r>
              <a:rPr lang="en-US" sz="255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No reproduce el bug, no determina la severidad real ni crea tickets automáticamente.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2312" y="9764239"/>
            <a:ext cx="16289188" cy="1830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B7B4B7"/>
                </a:solidFill>
                <a:latin typeface="Aptos"/>
                <a:ea typeface="Aptos"/>
                <a:cs typeface="Aptos"/>
                <a:sym typeface="Aptos"/>
              </a:rPr>
              <a:t>BUGTRIAGE AI  •  SEMINARIO DE ACTUALIZACIÓN 2026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11" cy="10295001"/>
            <a:chOff x="0" y="0"/>
            <a:chExt cx="24402415" cy="137266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19181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715942" y="5228739"/>
            <a:ext cx="7853934" cy="4029551"/>
            <a:chOff x="0" y="0"/>
            <a:chExt cx="10471912" cy="537273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471912" cy="5372735"/>
            </a:xfrm>
            <a:custGeom>
              <a:avLst/>
              <a:gdLst/>
              <a:ahLst/>
              <a:cxnLst/>
              <a:rect r="r" b="b" t="t" l="l"/>
              <a:pathLst>
                <a:path h="5372735" w="10471912">
                  <a:moveTo>
                    <a:pt x="0" y="0"/>
                  </a:moveTo>
                  <a:lnTo>
                    <a:pt x="10471912" y="0"/>
                  </a:lnTo>
                  <a:lnTo>
                    <a:pt x="10471912" y="5372735"/>
                  </a:lnTo>
                  <a:lnTo>
                    <a:pt x="0" y="53727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4388" r="0" b="-4388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28700" y="2792073"/>
            <a:ext cx="15011752" cy="20480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Gradio construye la interfaz web.</a:t>
            </a:r>
          </a:p>
          <a:p>
            <a:pPr algn="l">
              <a:lnSpc>
                <a:spcPts val="3240"/>
              </a:lnSpc>
            </a:pPr>
            <a:r>
              <a:rPr lang="en-US" sz="270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Transformers pipeline ejecuta zero-shot classification.</a:t>
            </a:r>
          </a:p>
          <a:p>
            <a:pPr algn="l">
              <a:lnSpc>
                <a:spcPts val="3240"/>
              </a:lnSpc>
            </a:pPr>
            <a:r>
              <a:rPr lang="en-US" sz="270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facebook/bart-large-mnli compara el reporte con etiquetas candidatas.</a:t>
            </a:r>
          </a:p>
          <a:p>
            <a:pPr algn="l">
              <a:lnSpc>
                <a:spcPts val="3240"/>
              </a:lnSpc>
            </a:pPr>
            <a:r>
              <a:rPr lang="en-US" sz="270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Hugging Face Spaces aloja la aplicación publicada.</a:t>
            </a:r>
          </a:p>
          <a:p>
            <a:pPr algn="l">
              <a:lnSpc>
                <a:spcPts val="3240"/>
              </a:lnSpc>
            </a:pPr>
            <a:r>
              <a:rPr lang="en-US" sz="270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La persona usuaria revisa la salida antes de actuar.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52312" y="663426"/>
            <a:ext cx="16289188" cy="388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F2D0C4"/>
                </a:solidFill>
                <a:latin typeface="Aptos Bold"/>
                <a:ea typeface="Aptos Bold"/>
                <a:cs typeface="Aptos Bold"/>
                <a:sym typeface="Aptos Bold"/>
              </a:rPr>
              <a:t>03 · ARQUITECTURA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52312" y="1281122"/>
            <a:ext cx="16289188" cy="869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22"/>
              </a:lnSpc>
            </a:pPr>
            <a:r>
              <a:rPr lang="en-US" sz="4353" b="true">
                <a:solidFill>
                  <a:srgbClr val="FDFDFD"/>
                </a:solidFill>
                <a:latin typeface="Aptos Bold"/>
                <a:ea typeface="Aptos Bold"/>
                <a:cs typeface="Aptos Bold"/>
                <a:sym typeface="Aptos Bold"/>
              </a:rPr>
              <a:t>De un texto a una sugerencia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52312" y="2269446"/>
            <a:ext cx="16289188" cy="342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1">
                <a:solidFill>
                  <a:srgbClr val="B7B4B7"/>
                </a:solidFill>
                <a:latin typeface="Aptos"/>
                <a:ea typeface="Aptos"/>
                <a:cs typeface="Aptos"/>
                <a:sym typeface="Aptos"/>
              </a:rPr>
              <a:t>La app usa inferencia; no entrena un modelo propio.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2312" y="9764239"/>
            <a:ext cx="3943617" cy="19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B7B4B7"/>
                </a:solidFill>
                <a:latin typeface="Aptos"/>
                <a:ea typeface="Aptos"/>
                <a:cs typeface="Aptos"/>
                <a:sym typeface="Aptos"/>
              </a:rPr>
              <a:t>BUGTRIAGE AI  •  SEMINARIO DE ACTUALIZACIÓN 2026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11" cy="10295001"/>
            <a:chOff x="0" y="0"/>
            <a:chExt cx="24402415" cy="137266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19181E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52312" y="663426"/>
            <a:ext cx="16289188" cy="388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F2D0C4"/>
                </a:solidFill>
                <a:latin typeface="Aptos Bold"/>
                <a:ea typeface="Aptos Bold"/>
                <a:cs typeface="Aptos Bold"/>
                <a:sym typeface="Aptos Bold"/>
              </a:rPr>
              <a:t>04 · EVALUACIÓN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52312" y="1281122"/>
            <a:ext cx="16289188" cy="869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22"/>
              </a:lnSpc>
            </a:pPr>
            <a:r>
              <a:rPr lang="en-US" sz="4353" b="true">
                <a:solidFill>
                  <a:srgbClr val="FDFDFD"/>
                </a:solidFill>
                <a:latin typeface="Aptos Bold"/>
                <a:ea typeface="Aptos Bold"/>
                <a:cs typeface="Aptos Bold"/>
                <a:sym typeface="Aptos Bold"/>
              </a:rPr>
              <a:t>Comparé dos modelos con los mismos 12 casos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52312" y="2269446"/>
            <a:ext cx="16289188" cy="342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1">
                <a:solidFill>
                  <a:srgbClr val="B7B4B7"/>
                </a:solidFill>
                <a:latin typeface="Aptos"/>
                <a:ea typeface="Aptos"/>
                <a:cs typeface="Aptos"/>
                <a:sym typeface="Aptos"/>
              </a:rPr>
              <a:t>Resultados exploratorios registrados en el notebook.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59560" y="4229033"/>
            <a:ext cx="16283540" cy="1828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BART-large-MNLI: 6/12 correctos · 50,00 % · 0,90 s/caso.</a:t>
            </a:r>
          </a:p>
          <a:p>
            <a:pPr algn="l">
              <a:lnSpc>
                <a:spcPts val="3602"/>
              </a:lnSpc>
            </a:pPr>
            <a:r>
              <a:rPr lang="en-US" sz="300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mDeBERTa multilingüe NLI: 2/12 correctos · 16,67 % · 4,15 s/caso.</a:t>
            </a:r>
          </a:p>
          <a:p>
            <a:pPr algn="l">
              <a:lnSpc>
                <a:spcPts val="3602"/>
              </a:lnSpc>
            </a:pPr>
            <a:r>
              <a:rPr lang="en-US" sz="300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Para este conjunto elegí BART por mejor accuracy observada y menor tiempo.</a:t>
            </a:r>
          </a:p>
          <a:p>
            <a:pPr algn="l">
              <a:lnSpc>
                <a:spcPts val="3602"/>
              </a:lnSpc>
            </a:pPr>
            <a:r>
              <a:rPr lang="en-US" sz="3002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La muestra es pequeña: no permite afirmar superioridad general ni desempeño de producción.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52312" y="9764239"/>
            <a:ext cx="16289188" cy="1830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B7B4B7"/>
                </a:solidFill>
                <a:latin typeface="Aptos"/>
                <a:ea typeface="Aptos"/>
                <a:cs typeface="Aptos"/>
                <a:sym typeface="Aptos"/>
              </a:rPr>
              <a:t>BUGTRIAGE AI  •  SEMINARIO DE ACTUALIZACIÓN 2026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11" cy="10295001"/>
            <a:chOff x="0" y="0"/>
            <a:chExt cx="24402415" cy="137266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19181E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52312" y="663426"/>
            <a:ext cx="16289188" cy="388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F2D0C4"/>
                </a:solidFill>
                <a:latin typeface="Aptos Bold"/>
                <a:ea typeface="Aptos Bold"/>
                <a:cs typeface="Aptos Bold"/>
                <a:sym typeface="Aptos Bold"/>
              </a:rPr>
              <a:t>05 · LÍMITES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52312" y="1281122"/>
            <a:ext cx="16289188" cy="869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22"/>
              </a:lnSpc>
            </a:pPr>
            <a:r>
              <a:rPr lang="en-US" sz="4353" b="true">
                <a:solidFill>
                  <a:srgbClr val="FDFDFD"/>
                </a:solidFill>
                <a:latin typeface="Aptos Bold"/>
                <a:ea typeface="Aptos Bold"/>
                <a:cs typeface="Aptos Bold"/>
                <a:sym typeface="Aptos Bold"/>
              </a:rPr>
              <a:t>El score no es una garantía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52312" y="2269446"/>
            <a:ext cx="16289188" cy="342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1">
                <a:solidFill>
                  <a:srgbClr val="B7B4B7"/>
                </a:solidFill>
                <a:latin typeface="Aptos"/>
                <a:ea typeface="Aptos"/>
                <a:cs typeface="Aptos"/>
                <a:sym typeface="Aptos"/>
              </a:rPr>
              <a:t>Una predicción debe interpretarse como apoyo, no como verdad.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26842" y="3242929"/>
            <a:ext cx="16054511" cy="21237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1"/>
              </a:lnSpc>
            </a:pPr>
            <a:r>
              <a:rPr lang="en-US" sz="2751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Un ejemplo de prueba mostró que la categoría de mayor score podía no coincidir con la intuición humana.</a:t>
            </a:r>
          </a:p>
          <a:p>
            <a:pPr algn="l">
              <a:lnSpc>
                <a:spcPts val="3301"/>
              </a:lnSpc>
            </a:pPr>
            <a:r>
              <a:rPr lang="en-US" sz="2751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Los scores no son probabilidades calibradas de acierto.</a:t>
            </a:r>
          </a:p>
          <a:p>
            <a:pPr algn="l">
              <a:lnSpc>
                <a:spcPts val="3301"/>
              </a:lnSpc>
            </a:pPr>
            <a:r>
              <a:rPr lang="en-US" sz="2751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Próximos pasos: más casos, etiquetas revisadas, matriz de confusión, precision y recall por categoría.</a:t>
            </a:r>
          </a:p>
          <a:p>
            <a:pPr algn="l">
              <a:lnSpc>
                <a:spcPts val="3301"/>
              </a:lnSpc>
            </a:pPr>
            <a:r>
              <a:rPr lang="en-US" sz="2751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Los reportes ambiguos o multitema requieren revisión humana.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52312" y="9764239"/>
            <a:ext cx="16289188" cy="1830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B7B4B7"/>
                </a:solidFill>
                <a:latin typeface="Aptos"/>
                <a:ea typeface="Aptos"/>
                <a:cs typeface="Aptos"/>
                <a:sym typeface="Aptos"/>
              </a:rPr>
              <a:t>BUGTRIAGE AI  •  SEMINARIO DE ACTUALIZACIÓN 2026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11" cy="10295001"/>
            <a:chOff x="0" y="0"/>
            <a:chExt cx="24402415" cy="137266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19181E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52312" y="663426"/>
            <a:ext cx="16289188" cy="388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F2D0C4"/>
                </a:solidFill>
                <a:latin typeface="Aptos Bold"/>
                <a:ea typeface="Aptos Bold"/>
                <a:cs typeface="Aptos Bold"/>
                <a:sym typeface="Aptos Bold"/>
              </a:rPr>
              <a:t>06 · PROBLEMAS REALES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52312" y="1281122"/>
            <a:ext cx="16289188" cy="869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22"/>
              </a:lnSpc>
            </a:pPr>
            <a:r>
              <a:rPr lang="en-US" sz="4353" b="true">
                <a:solidFill>
                  <a:srgbClr val="FDFDFD"/>
                </a:solidFill>
                <a:latin typeface="Aptos Bold"/>
                <a:ea typeface="Aptos Bold"/>
                <a:cs typeface="Aptos Bold"/>
                <a:sym typeface="Aptos Bold"/>
              </a:rPr>
              <a:t>Los errores también fueron parte del aprendizaje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52312" y="2269446"/>
            <a:ext cx="16289188" cy="342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1">
                <a:solidFill>
                  <a:srgbClr val="B7B4B7"/>
                </a:solidFill>
                <a:latin typeface="Aptos"/>
                <a:ea typeface="Aptos"/>
                <a:cs typeface="Aptos"/>
                <a:sym typeface="Aptos"/>
              </a:rPr>
              <a:t>Separé errores de código de problemas de servicio y configuración.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26842" y="3271504"/>
            <a:ext cx="15465590" cy="5673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HF_TOKEN ausente y respuesta 401: revisar credenciales y permisos.</a:t>
            </a:r>
          </a:p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Error 402: no había créditos remotos disponibles.</a:t>
            </a:r>
          </a:p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La tarea text_classification no coincidía; se corrigió a zero_shot_classification.</a:t>
            </a:r>
          </a:p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DEDCD8"/>
                </a:solidFill>
                <a:latin typeface="Aptos"/>
                <a:ea typeface="Aptos"/>
                <a:cs typeface="Aptos"/>
                <a:sym typeface="Aptos"/>
              </a:rPr>
              <a:t>•  La ruta que quedó en la app usa el pipeline; el cliente remoto fue un experimento.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52312" y="9764239"/>
            <a:ext cx="16289188" cy="1830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B7B4B7"/>
                </a:solidFill>
                <a:latin typeface="Aptos"/>
                <a:ea typeface="Aptos"/>
                <a:cs typeface="Aptos"/>
                <a:sym typeface="Aptos"/>
              </a:rPr>
              <a:t>BUGTRIAGE AI  •  SEMINARIO DE ACTUALIZACIÓN 2026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11" cy="10295001"/>
            <a:chOff x="0" y="0"/>
            <a:chExt cx="24402415" cy="137266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19181E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52312" y="663426"/>
            <a:ext cx="16289188" cy="3889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F2D0C4"/>
                </a:solidFill>
                <a:latin typeface="Aptos Bold"/>
                <a:ea typeface="Aptos Bold"/>
                <a:cs typeface="Aptos Bold"/>
                <a:sym typeface="Aptos Bold"/>
              </a:rPr>
              <a:t>07 · CIERRE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52312" y="1281122"/>
            <a:ext cx="16289188" cy="8694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22"/>
              </a:lnSpc>
            </a:pPr>
            <a:r>
              <a:rPr lang="en-US" sz="4353" b="true">
                <a:solidFill>
                  <a:srgbClr val="FDFDFD"/>
                </a:solidFill>
                <a:latin typeface="Aptos Bold"/>
                <a:ea typeface="Aptos Bold"/>
                <a:cs typeface="Aptos Bold"/>
                <a:sym typeface="Aptos Bold"/>
              </a:rPr>
              <a:t>Un prototipo funcional, con límites explícitos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52312" y="2269446"/>
            <a:ext cx="16289188" cy="342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0"/>
              </a:lnSpc>
            </a:pPr>
            <a:r>
              <a:rPr lang="en-US" sz="2301">
                <a:solidFill>
                  <a:srgbClr val="B7B4B7"/>
                </a:solidFill>
                <a:latin typeface="Aptos"/>
                <a:ea typeface="Aptos"/>
                <a:cs typeface="Aptos"/>
                <a:sym typeface="Aptos"/>
              </a:rPr>
              <a:t>Publicado y preparado para seguir mejorando.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26842" y="3052429"/>
            <a:ext cx="15465590" cy="47136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09"/>
              </a:lnSpc>
            </a:pPr>
            <a:r>
              <a:rPr lang="en-US" sz="2699">
                <a:solidFill>
                  <a:srgbClr val="F5F2EE"/>
                </a:solidFill>
                <a:latin typeface="Aptos"/>
                <a:ea typeface="Aptos"/>
                <a:cs typeface="Aptos"/>
                <a:sym typeface="Aptos"/>
              </a:rPr>
              <a:t>•  Demo pública en Hugging Face Spaces: huggingface.co/spaces/lagabyok/bugtriage-ai</a:t>
            </a:r>
          </a:p>
          <a:p>
            <a:pPr algn="l">
              <a:lnSpc>
                <a:spcPts val="3239"/>
              </a:lnSpc>
            </a:pPr>
            <a:r>
              <a:rPr lang="en-US" sz="2699">
                <a:solidFill>
                  <a:srgbClr val="F5F2EE"/>
                </a:solidFill>
                <a:latin typeface="Aptos"/>
                <a:ea typeface="Aptos"/>
                <a:cs typeface="Aptos"/>
                <a:sym typeface="Aptos"/>
              </a:rPr>
              <a:t> Elegí Spaces porque permite publicar una demo accesible desde el navegador e integrar Gradio sin pedirle al evaluador que instale el proyecto.</a:t>
            </a:r>
          </a:p>
          <a:p>
            <a:pPr algn="l">
              <a:lnSpc>
                <a:spcPts val="3239"/>
              </a:lnSpc>
            </a:pPr>
          </a:p>
          <a:p>
            <a:pPr algn="l">
              <a:lnSpc>
                <a:spcPts val="3239"/>
              </a:lnSpc>
            </a:pPr>
            <a:r>
              <a:rPr lang="en-US" sz="2699">
                <a:solidFill>
                  <a:srgbClr val="F5F2EE"/>
                </a:solidFill>
                <a:latin typeface="Aptos"/>
                <a:ea typeface="Aptos"/>
                <a:cs typeface="Aptos"/>
                <a:sym typeface="Aptos"/>
              </a:rPr>
              <a:t>•  Repositorio académico (código, notebook, resultados e informe):</a:t>
            </a:r>
          </a:p>
          <a:p>
            <a:pPr algn="l">
              <a:lnSpc>
                <a:spcPts val="2639"/>
              </a:lnSpc>
            </a:pPr>
            <a:r>
              <a:rPr lang="en-US" sz="2199" u="sng">
                <a:solidFill>
                  <a:srgbClr val="0000FF"/>
                </a:solidFill>
                <a:latin typeface="Aptos"/>
                <a:ea typeface="Aptos"/>
                <a:cs typeface="Aptos"/>
                <a:sym typeface="Aptos"/>
                <a:hlinkClick r:id="rId2" tooltip="https://github.com/lagabyok/Gabriela-Coronel-seminario-de-actualizacion-2026/tree/main/TP_Integrador"/>
              </a:rPr>
              <a:t>   https://github.com/lagabyok/Gabriela-Coronel-seminario-de-actualizacion-2026/tree/main/TP_Integrador</a:t>
            </a:r>
          </a:p>
          <a:p>
            <a:pPr algn="l">
              <a:lnSpc>
                <a:spcPts val="2639"/>
              </a:lnSpc>
            </a:pPr>
          </a:p>
          <a:p>
            <a:pPr algn="l">
              <a:lnSpc>
                <a:spcPts val="3239"/>
              </a:lnSpc>
            </a:pPr>
            <a:r>
              <a:rPr lang="en-US" sz="2699">
                <a:solidFill>
                  <a:srgbClr val="F5F2EE"/>
                </a:solidFill>
                <a:latin typeface="Aptos"/>
                <a:ea typeface="Aptos"/>
                <a:cs typeface="Aptos"/>
                <a:sym typeface="Aptos"/>
              </a:rPr>
              <a:t>  La IA generativa se utilizó como apoyo documental y  apoyo tecnico, con creacion y revision humana.</a:t>
            </a:r>
          </a:p>
          <a:p>
            <a:pPr algn="l">
              <a:lnSpc>
                <a:spcPts val="3239"/>
              </a:lnSpc>
            </a:pPr>
          </a:p>
          <a:p>
            <a:pPr algn="l">
              <a:lnSpc>
                <a:spcPts val="3239"/>
              </a:lnSpc>
            </a:pPr>
            <a:r>
              <a:rPr lang="en-US" sz="2699" b="true">
                <a:solidFill>
                  <a:srgbClr val="F5F2EE"/>
                </a:solidFill>
                <a:latin typeface="Aptos Bold"/>
                <a:ea typeface="Aptos Bold"/>
                <a:cs typeface="Aptos Bold"/>
                <a:sym typeface="Aptos Bold"/>
              </a:rPr>
              <a:t>  Conclusión: puede ayudar en una primera lectura, pero necesita más evaluación y supervisión humana.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52312" y="9764239"/>
            <a:ext cx="16289188" cy="1830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B7B4B7"/>
                </a:solidFill>
                <a:latin typeface="Aptos"/>
                <a:ea typeface="Aptos"/>
                <a:cs typeface="Aptos"/>
                <a:sym typeface="Aptos"/>
              </a:rPr>
              <a:t>BUGTRIAGE AI  •  SEMINARIO DE ACTUALIZACIÓN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DAHXhrE-GEA</dc:identifier>
  <dcterms:modified xsi:type="dcterms:W3CDTF">2011-08-01T06:04:30Z</dcterms:modified>
  <cp:revision>1</cp:revision>
  <dc:title>TP_Gabriela_Coronel_CORREGIDO.pptx</dc:title>
</cp:coreProperties>
</file>